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Play"/>
      <p:regular r:id="rId21"/>
      <p:bold r:id="rId22"/>
    </p:embeddedFont>
    <p:embeddedFont>
      <p:font typeface="Teko"/>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5" roundtripDataSignature="AMtx7mhqM0BokVPW4eiIQfSYp4vhApC+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96D05A-1EB1-45B1-8CDD-7A9E0CA6C81D}">
  <a:tblStyle styleId="{0496D05A-1EB1-45B1-8CDD-7A9E0CA6C81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ay-bold.fntdata"/><Relationship Id="rId21" Type="http://schemas.openxmlformats.org/officeDocument/2006/relationships/font" Target="fonts/Play-regular.fntdata"/><Relationship Id="rId24" Type="http://schemas.openxmlformats.org/officeDocument/2006/relationships/font" Target="fonts/Teko-bold.fntdata"/><Relationship Id="rId23" Type="http://schemas.openxmlformats.org/officeDocument/2006/relationships/font" Target="fonts/Tek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8b8c664e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g368b8c664e8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8b8c664e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68b8c664e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8b8c664e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68b8c664e8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8b8c664e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68b8c664e8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8b8c664e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68b8c664e8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8b8c664e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68b8c664e8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8bf852de8_4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68bf852de8_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8b8c664e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68b8c664e8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68b8c664e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68b8c664e8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8b8c664e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68b8c664e8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68ca00a9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68ca00a97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68b8c664e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68b8c664e8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p:nvPr>
            <p:ph idx="2" type="pic"/>
          </p:nvPr>
        </p:nvSpPr>
        <p:spPr>
          <a:xfrm>
            <a:off x="5183188" y="987425"/>
            <a:ext cx="6172200" cy="4873625"/>
          </a:xfrm>
          <a:prstGeom prst="rect">
            <a:avLst/>
          </a:prstGeom>
          <a:noFill/>
          <a:ln>
            <a:noFill/>
          </a:ln>
        </p:spPr>
      </p:sp>
      <p:sp>
        <p:nvSpPr>
          <p:cNvPr id="64" name="Google Shape;64;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5" name="Google Shape;85;p1"/>
          <p:cNvSpPr/>
          <p:nvPr/>
        </p:nvSpPr>
        <p:spPr>
          <a:xfrm flipH="1">
            <a:off x="0" y="0"/>
            <a:ext cx="5962785" cy="685800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6" name="Google Shape;86;p1"/>
          <p:cNvSpPr txBox="1"/>
          <p:nvPr>
            <p:ph type="ctrTitle"/>
          </p:nvPr>
        </p:nvSpPr>
        <p:spPr>
          <a:xfrm>
            <a:off x="100" y="1865000"/>
            <a:ext cx="12192000" cy="12264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Teko"/>
              <a:buNone/>
            </a:pPr>
            <a:r>
              <a:rPr b="1" lang="en-US" sz="5400">
                <a:latin typeface="Times New Roman"/>
                <a:ea typeface="Times New Roman"/>
                <a:cs typeface="Times New Roman"/>
                <a:sym typeface="Times New Roman"/>
              </a:rPr>
              <a:t>PrivacyRadar</a:t>
            </a:r>
            <a:br>
              <a:rPr b="1" lang="en-US" sz="5400">
                <a:latin typeface="Times New Roman"/>
                <a:ea typeface="Times New Roman"/>
                <a:cs typeface="Times New Roman"/>
                <a:sym typeface="Times New Roman"/>
              </a:rPr>
            </a:br>
            <a:r>
              <a:rPr b="1" lang="en-US" sz="4000">
                <a:latin typeface="Times New Roman"/>
                <a:ea typeface="Times New Roman"/>
                <a:cs typeface="Times New Roman"/>
                <a:sym typeface="Times New Roman"/>
              </a:rPr>
              <a:t>AI-Enabled Network Intelligence and Privacy Analyzer</a:t>
            </a:r>
            <a:endParaRPr b="1" sz="3200">
              <a:latin typeface="Times New Roman"/>
              <a:ea typeface="Times New Roman"/>
              <a:cs typeface="Times New Roman"/>
              <a:sym typeface="Times New Roman"/>
            </a:endParaRPr>
          </a:p>
        </p:txBody>
      </p:sp>
      <p:sp>
        <p:nvSpPr>
          <p:cNvPr id="87" name="Google Shape;87;p1"/>
          <p:cNvSpPr txBox="1"/>
          <p:nvPr/>
        </p:nvSpPr>
        <p:spPr>
          <a:xfrm>
            <a:off x="3785708" y="4209559"/>
            <a:ext cx="4620584" cy="775494"/>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ctr">
              <a:lnSpc>
                <a:spcPct val="100000"/>
              </a:lnSpc>
              <a:spcBef>
                <a:spcPts val="0"/>
              </a:spcBef>
              <a:spcAft>
                <a:spcPts val="0"/>
              </a:spcAft>
              <a:buClr>
                <a:schemeClr val="dk1"/>
              </a:buClr>
              <a:buSzPct val="100000"/>
              <a:buFont typeface="Arial"/>
              <a:buNone/>
            </a:pPr>
            <a:r>
              <a:rPr b="1" i="0" lang="en-US" sz="3200" u="none" cap="none" strike="noStrike">
                <a:solidFill>
                  <a:schemeClr val="dk1"/>
                </a:solidFill>
                <a:latin typeface="Times New Roman"/>
                <a:ea typeface="Times New Roman"/>
                <a:cs typeface="Times New Roman"/>
                <a:sym typeface="Times New Roman"/>
              </a:rPr>
              <a:t>Mid-Semester Project Presentation </a:t>
            </a:r>
            <a:r>
              <a:rPr b="1" i="0" lang="en-US" sz="2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pic>
        <p:nvPicPr>
          <p:cNvPr descr="A logo of a shield with a lock&#10;&#10;AI-generated content may be incorrect." id="88" name="Google Shape;88;p1"/>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2"/>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95" name="Google Shape;95;p2"/>
          <p:cNvSpPr txBox="1"/>
          <p:nvPr/>
        </p:nvSpPr>
        <p:spPr>
          <a:xfrm>
            <a:off x="-3000" y="48202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Team Structure &amp; Responsibilities</a:t>
            </a:r>
            <a:endParaRPr sz="3600">
              <a:latin typeface="Times New Roman"/>
              <a:ea typeface="Times New Roman"/>
              <a:cs typeface="Times New Roman"/>
              <a:sym typeface="Times New Roman"/>
            </a:endParaRPr>
          </a:p>
        </p:txBody>
      </p:sp>
      <p:pic>
        <p:nvPicPr>
          <p:cNvPr descr="A logo of a shield with a lock&#10;&#10;AI-generated content may be incorrect." id="96" name="Google Shape;96;p2"/>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pic>
        <p:nvPicPr>
          <p:cNvPr id="97" name="Google Shape;97;p2"/>
          <p:cNvPicPr preferRelativeResize="0"/>
          <p:nvPr/>
        </p:nvPicPr>
        <p:blipFill>
          <a:blip r:embed="rId4">
            <a:alphaModFix/>
          </a:blip>
          <a:stretch>
            <a:fillRect/>
          </a:stretch>
        </p:blipFill>
        <p:spPr>
          <a:xfrm>
            <a:off x="2650913" y="3932287"/>
            <a:ext cx="6884174" cy="2154074"/>
          </a:xfrm>
          <a:prstGeom prst="rect">
            <a:avLst/>
          </a:prstGeom>
          <a:solidFill>
            <a:schemeClr val="lt1"/>
          </a:solidFill>
          <a:ln>
            <a:noFill/>
          </a:ln>
        </p:spPr>
      </p:pic>
      <p:pic>
        <p:nvPicPr>
          <p:cNvPr id="98" name="Google Shape;98;p2"/>
          <p:cNvPicPr preferRelativeResize="0"/>
          <p:nvPr/>
        </p:nvPicPr>
        <p:blipFill>
          <a:blip r:embed="rId5">
            <a:alphaModFix/>
          </a:blip>
          <a:stretch>
            <a:fillRect/>
          </a:stretch>
        </p:blipFill>
        <p:spPr>
          <a:xfrm>
            <a:off x="2653913" y="1364062"/>
            <a:ext cx="6884176" cy="2332698"/>
          </a:xfrm>
          <a:prstGeom prst="rect">
            <a:avLst/>
          </a:prstGeom>
          <a:solidFill>
            <a:schemeClr val="lt1"/>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368b8c664e8_0_2"/>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4" name="Google Shape;104;g368b8c664e8_0_2"/>
          <p:cNvSpPr txBox="1"/>
          <p:nvPr>
            <p:ph type="ctrTitle"/>
          </p:nvPr>
        </p:nvSpPr>
        <p:spPr>
          <a:xfrm>
            <a:off x="1078800" y="1393872"/>
            <a:ext cx="10031400" cy="45282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PrivacyRadar will be a utility that provides network visibility and privacy-related activities</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Will operate as a cross-platform tool, supporting Windows, Linux, and MacOS</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Dashboard will includes a ‘Basic’ and ‘Advanced’ mode to satisfy the scope of its users</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Will </a:t>
            </a:r>
            <a:r>
              <a:rPr lang="en-US" sz="2400">
                <a:latin typeface="Times New Roman"/>
                <a:ea typeface="Times New Roman"/>
                <a:cs typeface="Times New Roman"/>
                <a:sym typeface="Times New Roman"/>
              </a:rPr>
              <a:t>support</a:t>
            </a:r>
            <a:r>
              <a:rPr lang="en-US" sz="2400">
                <a:latin typeface="Times New Roman"/>
                <a:ea typeface="Times New Roman"/>
                <a:cs typeface="Times New Roman"/>
                <a:sym typeface="Times New Roman"/>
              </a:rPr>
              <a:t> general users who have little to no networking knowledge</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Will support developers, researchers, or network administrators with years of expertise.</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A comprehensive alert and notification system will be established</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Alerts will be configured through both traditional UI controls and natural language commands via the AI assistant</a:t>
            </a:r>
            <a:endParaRPr sz="2400">
              <a:latin typeface="Times New Roman"/>
              <a:ea typeface="Times New Roman"/>
              <a:cs typeface="Times New Roman"/>
              <a:sym typeface="Times New Roman"/>
            </a:endParaRPr>
          </a:p>
        </p:txBody>
      </p:sp>
      <p:sp>
        <p:nvSpPr>
          <p:cNvPr id="105" name="Google Shape;105;g368b8c664e8_0_2"/>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06" name="Google Shape;106;g368b8c664e8_0_2"/>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Scope &amp; Goals</a:t>
            </a:r>
            <a:endParaRPr sz="3600">
              <a:latin typeface="Times New Roman"/>
              <a:ea typeface="Times New Roman"/>
              <a:cs typeface="Times New Roman"/>
              <a:sym typeface="Times New Roman"/>
            </a:endParaRPr>
          </a:p>
        </p:txBody>
      </p:sp>
      <p:pic>
        <p:nvPicPr>
          <p:cNvPr descr="A logo of a shield with a lock&#10;&#10;AI-generated content may be incorrect." id="107" name="Google Shape;107;g368b8c664e8_0_2"/>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g368b8c664e8_0_13"/>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3" name="Google Shape;113;g368b8c664e8_0_13"/>
          <p:cNvSpPr txBox="1"/>
          <p:nvPr>
            <p:ph type="ctrTitle"/>
          </p:nvPr>
        </p:nvSpPr>
        <p:spPr>
          <a:xfrm>
            <a:off x="1130975" y="1295700"/>
            <a:ext cx="9594600" cy="4652700"/>
          </a:xfrm>
          <a:prstGeom prst="rect">
            <a:avLst/>
          </a:prstGeom>
          <a:noFill/>
          <a:ln>
            <a:noFill/>
          </a:ln>
        </p:spPr>
        <p:txBody>
          <a:bodyPr anchorCtr="0" anchor="t" bIns="45700" lIns="91425" spcFirstLastPara="1" rIns="91425" wrap="square" tIns="45700">
            <a:noAutofit/>
          </a:bodyPr>
          <a:lstStyle/>
          <a:p>
            <a:pPr indent="-353060" lvl="0" marL="457200" rtl="0" algn="l">
              <a:lnSpc>
                <a:spcPct val="100000"/>
              </a:lnSpc>
              <a:spcBef>
                <a:spcPts val="0"/>
              </a:spcBef>
              <a:spcAft>
                <a:spcPts val="0"/>
              </a:spcAft>
              <a:buSzPts val="1960"/>
              <a:buFont typeface="Teko"/>
              <a:buChar char="●"/>
            </a:pPr>
            <a:r>
              <a:rPr b="1" lang="en-US" sz="1960">
                <a:latin typeface="Times New Roman"/>
                <a:ea typeface="Times New Roman"/>
                <a:cs typeface="Times New Roman"/>
                <a:sym typeface="Times New Roman"/>
              </a:rPr>
              <a:t>Privacy-conscious users:</a:t>
            </a:r>
            <a:r>
              <a:rPr lang="en-US" sz="1960">
                <a:latin typeface="Times New Roman"/>
                <a:ea typeface="Times New Roman"/>
                <a:cs typeface="Times New Roman"/>
                <a:sym typeface="Times New Roman"/>
              </a:rPr>
              <a:t> Individuals seeking transparency into their applications' network behavior to discover which apps are secretly transmitting personal data, identify unexpected data collection practices that violate </a:t>
            </a:r>
            <a:r>
              <a:rPr lang="en-US" sz="1960">
                <a:latin typeface="Times New Roman"/>
                <a:ea typeface="Times New Roman"/>
                <a:cs typeface="Times New Roman"/>
                <a:sym typeface="Times New Roman"/>
              </a:rPr>
              <a:t>u</a:t>
            </a:r>
            <a:r>
              <a:rPr lang="en-US" sz="1960">
                <a:latin typeface="Times New Roman"/>
                <a:ea typeface="Times New Roman"/>
                <a:cs typeface="Times New Roman"/>
                <a:sym typeface="Times New Roman"/>
              </a:rPr>
              <a:t>ser expectations.</a:t>
            </a:r>
            <a:endParaRPr sz="1960">
              <a:latin typeface="Times New Roman"/>
              <a:ea typeface="Times New Roman"/>
              <a:cs typeface="Times New Roman"/>
              <a:sym typeface="Times New Roman"/>
            </a:endParaRPr>
          </a:p>
          <a:p>
            <a:pPr indent="-353060" lvl="0" marL="457200" rtl="0" algn="l">
              <a:lnSpc>
                <a:spcPct val="100000"/>
              </a:lnSpc>
              <a:spcBef>
                <a:spcPts val="0"/>
              </a:spcBef>
              <a:spcAft>
                <a:spcPts val="0"/>
              </a:spcAft>
              <a:buSzPts val="1960"/>
              <a:buFont typeface="Teko"/>
              <a:buChar char="●"/>
            </a:pPr>
            <a:r>
              <a:rPr b="1" lang="en-US" sz="1960">
                <a:latin typeface="Times New Roman"/>
                <a:ea typeface="Times New Roman"/>
                <a:cs typeface="Times New Roman"/>
                <a:sym typeface="Times New Roman"/>
              </a:rPr>
              <a:t>Network enthusiasts:</a:t>
            </a:r>
            <a:r>
              <a:rPr lang="en-US" sz="1960">
                <a:latin typeface="Times New Roman"/>
                <a:ea typeface="Times New Roman"/>
                <a:cs typeface="Times New Roman"/>
                <a:sym typeface="Times New Roman"/>
              </a:rPr>
              <a:t> Users who want deep insights into system-level network activity to provide granular, real-time visibility into application-specific network communications that general network tools can't offer</a:t>
            </a:r>
            <a:endParaRPr sz="1960">
              <a:latin typeface="Times New Roman"/>
              <a:ea typeface="Times New Roman"/>
              <a:cs typeface="Times New Roman"/>
              <a:sym typeface="Times New Roman"/>
            </a:endParaRPr>
          </a:p>
          <a:p>
            <a:pPr indent="-353060" lvl="0" marL="457200" rtl="0" algn="l">
              <a:lnSpc>
                <a:spcPct val="100000"/>
              </a:lnSpc>
              <a:spcBef>
                <a:spcPts val="0"/>
              </a:spcBef>
              <a:spcAft>
                <a:spcPts val="0"/>
              </a:spcAft>
              <a:buSzPts val="1960"/>
              <a:buFont typeface="Teko"/>
              <a:buChar char="●"/>
            </a:pPr>
            <a:r>
              <a:rPr b="1" lang="en-US" sz="1960">
                <a:latin typeface="Times New Roman"/>
                <a:ea typeface="Times New Roman"/>
                <a:cs typeface="Times New Roman"/>
                <a:sym typeface="Times New Roman"/>
              </a:rPr>
              <a:t>Security researchers &amp; digital rights advocates:</a:t>
            </a:r>
            <a:r>
              <a:rPr lang="en-US" sz="1960">
                <a:latin typeface="Times New Roman"/>
                <a:ea typeface="Times New Roman"/>
                <a:cs typeface="Times New Roman"/>
                <a:sym typeface="Times New Roman"/>
              </a:rPr>
              <a:t> Professionals who want to automatically detect and document privacy violations at scale, collect evidence of unauthorized data collection practices, and build datasets for research publications or regulatory complaints that would be impossible to gather manually.</a:t>
            </a:r>
            <a:endParaRPr sz="1960">
              <a:latin typeface="Times New Roman"/>
              <a:ea typeface="Times New Roman"/>
              <a:cs typeface="Times New Roman"/>
              <a:sym typeface="Times New Roman"/>
            </a:endParaRPr>
          </a:p>
          <a:p>
            <a:pPr indent="-353060" lvl="0" marL="457200" rtl="0" algn="l">
              <a:lnSpc>
                <a:spcPct val="100000"/>
              </a:lnSpc>
              <a:spcBef>
                <a:spcPts val="0"/>
              </a:spcBef>
              <a:spcAft>
                <a:spcPts val="0"/>
              </a:spcAft>
              <a:buSzPts val="1960"/>
              <a:buFont typeface="Teko"/>
              <a:buChar char="●"/>
            </a:pPr>
            <a:r>
              <a:rPr b="1" lang="en-US" sz="1960">
                <a:latin typeface="Times New Roman"/>
                <a:ea typeface="Times New Roman"/>
                <a:cs typeface="Times New Roman"/>
                <a:sym typeface="Times New Roman"/>
              </a:rPr>
              <a:t>IT professionals:</a:t>
            </a:r>
            <a:r>
              <a:rPr lang="en-US" sz="1960">
                <a:latin typeface="Times New Roman"/>
                <a:ea typeface="Times New Roman"/>
                <a:cs typeface="Times New Roman"/>
                <a:sym typeface="Times New Roman"/>
              </a:rPr>
              <a:t> Those managing personal or small business networks who use PrivacyRadar because traditional network monitoring tools lack the application-level granularity needed to identify which specific applications are causing security concerns, consuming excessive bandwidth, or potentially exfiltrating sensitive business data through unauthorized channels.</a:t>
            </a:r>
            <a:endParaRPr sz="1960">
              <a:latin typeface="Times New Roman"/>
              <a:ea typeface="Times New Roman"/>
              <a:cs typeface="Times New Roman"/>
              <a:sym typeface="Times New Roman"/>
            </a:endParaRPr>
          </a:p>
        </p:txBody>
      </p:sp>
      <p:sp>
        <p:nvSpPr>
          <p:cNvPr id="114" name="Google Shape;114;g368b8c664e8_0_13"/>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15" name="Google Shape;115;g368b8c664e8_0_13"/>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Target Users</a:t>
            </a:r>
            <a:endParaRPr sz="3600">
              <a:latin typeface="Times New Roman"/>
              <a:ea typeface="Times New Roman"/>
              <a:cs typeface="Times New Roman"/>
              <a:sym typeface="Times New Roman"/>
            </a:endParaRPr>
          </a:p>
        </p:txBody>
      </p:sp>
      <p:pic>
        <p:nvPicPr>
          <p:cNvPr descr="A logo of a shield with a lock&#10;&#10;AI-generated content may be incorrect." id="116" name="Google Shape;116;g368b8c664e8_0_13"/>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g368b8c664e8_0_21"/>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2" name="Google Shape;122;g368b8c664e8_0_21"/>
          <p:cNvSpPr txBox="1"/>
          <p:nvPr>
            <p:ph type="ctrTitle"/>
          </p:nvPr>
        </p:nvSpPr>
        <p:spPr>
          <a:xfrm>
            <a:off x="539025" y="1425900"/>
            <a:ext cx="6319800" cy="465300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0"/>
              </a:spcBef>
              <a:spcAft>
                <a:spcPts val="0"/>
              </a:spcAft>
              <a:buSzPts val="990"/>
              <a:buNone/>
            </a:pPr>
            <a:r>
              <a:rPr b="1" lang="en-US" sz="2200">
                <a:latin typeface="Arial"/>
                <a:ea typeface="Arial"/>
                <a:cs typeface="Arial"/>
                <a:sym typeface="Arial"/>
              </a:rPr>
              <a:t>Functional	</a:t>
            </a:r>
            <a:endParaRPr b="1"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lang="en-US" sz="2200">
                <a:latin typeface="Arial"/>
                <a:ea typeface="Arial"/>
                <a:cs typeface="Arial"/>
                <a:sym typeface="Arial"/>
              </a:rPr>
              <a:t>Network Monitoring Core Functions:  capture, log, geo-locate traffic</a:t>
            </a: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lang="en-US" sz="2200">
                <a:latin typeface="Arial"/>
                <a:ea typeface="Arial"/>
                <a:cs typeface="Arial"/>
                <a:sym typeface="Arial"/>
              </a:rPr>
              <a:t>Privacy Monitoring : detect camera, mic, location, clipboard use</a:t>
            </a: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lang="en-US" sz="2200">
                <a:latin typeface="Arial"/>
                <a:ea typeface="Arial"/>
                <a:cs typeface="Arial"/>
                <a:sym typeface="Arial"/>
              </a:rPr>
              <a:t>Alerts &amp; Notifications:  thresholds, blacklists, privacy hardware</a:t>
            </a: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lang="en-US" sz="2200">
                <a:latin typeface="Arial"/>
                <a:ea typeface="Arial"/>
                <a:cs typeface="Arial"/>
                <a:sym typeface="Arial"/>
              </a:rPr>
              <a:t>Data Visualization &amp; Reports:  dashboards, maps, comparisons</a:t>
            </a: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lang="en-US" sz="2200">
                <a:latin typeface="Arial"/>
                <a:ea typeface="Arial"/>
                <a:cs typeface="Arial"/>
                <a:sym typeface="Arial"/>
              </a:rPr>
              <a:t>AI Assistant Integration:  NL queries, summaries, risk scores</a:t>
            </a:r>
            <a:endParaRPr sz="2200">
              <a:latin typeface="Arial"/>
              <a:ea typeface="Arial"/>
              <a:cs typeface="Arial"/>
              <a:sym typeface="Arial"/>
            </a:endParaRPr>
          </a:p>
          <a:p>
            <a:pPr indent="-368300" lvl="0" marL="457200" rtl="0" algn="l">
              <a:lnSpc>
                <a:spcPct val="115000"/>
              </a:lnSpc>
              <a:spcBef>
                <a:spcPts val="0"/>
              </a:spcBef>
              <a:spcAft>
                <a:spcPts val="0"/>
              </a:spcAft>
              <a:buSzPts val="2200"/>
              <a:buFont typeface="Arial"/>
              <a:buChar char="●"/>
            </a:pPr>
            <a:r>
              <a:rPr lang="en-US" sz="2200">
                <a:latin typeface="Arial"/>
                <a:ea typeface="Arial"/>
                <a:cs typeface="Arial"/>
                <a:sym typeface="Arial"/>
              </a:rPr>
              <a:t>Data Export &amp; Integrity: CSV/JSON/XML with filters</a:t>
            </a:r>
            <a:endParaRPr sz="2200">
              <a:latin typeface="Arial"/>
              <a:ea typeface="Arial"/>
              <a:cs typeface="Arial"/>
              <a:sym typeface="Arial"/>
            </a:endParaRPr>
          </a:p>
          <a:p>
            <a:pPr indent="0" lvl="0" marL="457200" rtl="0" algn="l">
              <a:lnSpc>
                <a:spcPct val="115000"/>
              </a:lnSpc>
              <a:spcBef>
                <a:spcPts val="0"/>
              </a:spcBef>
              <a:spcAft>
                <a:spcPts val="0"/>
              </a:spcAft>
              <a:buSzPts val="990"/>
              <a:buNone/>
            </a:pPr>
            <a:r>
              <a:t/>
            </a:r>
            <a:endParaRPr sz="2200">
              <a:latin typeface="Arial"/>
              <a:ea typeface="Arial"/>
              <a:cs typeface="Arial"/>
              <a:sym typeface="Arial"/>
            </a:endParaRPr>
          </a:p>
          <a:p>
            <a:pPr indent="0" lvl="0" marL="457200" rtl="0" algn="l">
              <a:lnSpc>
                <a:spcPct val="115000"/>
              </a:lnSpc>
              <a:spcBef>
                <a:spcPts val="0"/>
              </a:spcBef>
              <a:spcAft>
                <a:spcPts val="0"/>
              </a:spcAft>
              <a:buSzPts val="990"/>
              <a:buNone/>
            </a:pPr>
            <a:r>
              <a:t/>
            </a:r>
            <a:endParaRPr b="1" sz="2200">
              <a:latin typeface="Arial"/>
              <a:ea typeface="Arial"/>
              <a:cs typeface="Arial"/>
              <a:sym typeface="Arial"/>
            </a:endParaRPr>
          </a:p>
        </p:txBody>
      </p:sp>
      <p:sp>
        <p:nvSpPr>
          <p:cNvPr id="123" name="Google Shape;123;g368b8c664e8_0_21"/>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24" name="Google Shape;124;g368b8c664e8_0_21"/>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High-Level Requirements</a:t>
            </a:r>
            <a:endParaRPr sz="3600">
              <a:latin typeface="Times New Roman"/>
              <a:ea typeface="Times New Roman"/>
              <a:cs typeface="Times New Roman"/>
              <a:sym typeface="Times New Roman"/>
            </a:endParaRPr>
          </a:p>
        </p:txBody>
      </p:sp>
      <p:pic>
        <p:nvPicPr>
          <p:cNvPr descr="A logo of a shield with a lock&#10;&#10;AI-generated content may be incorrect." id="125" name="Google Shape;125;g368b8c664e8_0_21"/>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
        <p:nvSpPr>
          <p:cNvPr id="126" name="Google Shape;126;g368b8c664e8_0_21"/>
          <p:cNvSpPr txBox="1"/>
          <p:nvPr>
            <p:ph type="ctrTitle"/>
          </p:nvPr>
        </p:nvSpPr>
        <p:spPr>
          <a:xfrm>
            <a:off x="6753425" y="1618175"/>
            <a:ext cx="4779600" cy="3975300"/>
          </a:xfrm>
          <a:prstGeom prst="rect">
            <a:avLst/>
          </a:prstGeom>
          <a:noFill/>
          <a:ln>
            <a:noFill/>
          </a:ln>
        </p:spPr>
        <p:txBody>
          <a:bodyPr anchorCtr="0" anchor="t" bIns="45700" lIns="91425" spcFirstLastPara="1" rIns="91425" wrap="square" tIns="45700">
            <a:noAutofit/>
          </a:bodyPr>
          <a:lstStyle/>
          <a:p>
            <a:pPr indent="0" lvl="0" marL="457200" rtl="0" algn="l">
              <a:lnSpc>
                <a:spcPct val="115000"/>
              </a:lnSpc>
              <a:spcBef>
                <a:spcPts val="0"/>
              </a:spcBef>
              <a:spcAft>
                <a:spcPts val="0"/>
              </a:spcAft>
              <a:buNone/>
            </a:pPr>
            <a:r>
              <a:rPr b="1" lang="en-US" sz="2300">
                <a:latin typeface="Arial"/>
                <a:ea typeface="Arial"/>
                <a:cs typeface="Arial"/>
                <a:sym typeface="Arial"/>
              </a:rPr>
              <a:t>Non-Functional	</a:t>
            </a:r>
            <a:endParaRPr b="1"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 Performance: meets RAIL model (Response ≤ 200 ms, 60 FPS UI)</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 Reliability: 24 h stable capture, 0 packet loss</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Security: data integrity and safe storage</a:t>
            </a:r>
            <a:endParaRPr sz="2300">
              <a:latin typeface="Arial"/>
              <a:ea typeface="Arial"/>
              <a:cs typeface="Arial"/>
              <a:sym typeface="Arial"/>
            </a:endParaRPr>
          </a:p>
          <a:p>
            <a:pPr indent="-374650" lvl="0" marL="457200" rtl="0" algn="l">
              <a:lnSpc>
                <a:spcPct val="115000"/>
              </a:lnSpc>
              <a:spcBef>
                <a:spcPts val="0"/>
              </a:spcBef>
              <a:spcAft>
                <a:spcPts val="0"/>
              </a:spcAft>
              <a:buSzPts val="2300"/>
              <a:buFont typeface="Arial"/>
              <a:buChar char="●"/>
            </a:pPr>
            <a:r>
              <a:rPr lang="en-US" sz="2300">
                <a:latin typeface="Arial"/>
                <a:ea typeface="Arial"/>
                <a:cs typeface="Arial"/>
                <a:sym typeface="Arial"/>
              </a:rPr>
              <a:t> Scalability: 10 000 pkts/sec on 1 Gbps links</a:t>
            </a:r>
            <a:endParaRPr b="1" sz="23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g368b8c664e8_0_45"/>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2" name="Google Shape;132;g368b8c664e8_0_45"/>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33" name="Google Shape;133;g368b8c664e8_0_45"/>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User Stories</a:t>
            </a:r>
            <a:endParaRPr sz="3600">
              <a:latin typeface="Times New Roman"/>
              <a:ea typeface="Times New Roman"/>
              <a:cs typeface="Times New Roman"/>
              <a:sym typeface="Times New Roman"/>
            </a:endParaRPr>
          </a:p>
        </p:txBody>
      </p:sp>
      <p:pic>
        <p:nvPicPr>
          <p:cNvPr descr="A logo of a shield with a lock&#10;&#10;AI-generated content may be incorrect." id="134" name="Google Shape;134;g368b8c664e8_0_45"/>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graphicFrame>
        <p:nvGraphicFramePr>
          <p:cNvPr id="135" name="Google Shape;135;g368b8c664e8_0_45"/>
          <p:cNvGraphicFramePr/>
          <p:nvPr/>
        </p:nvGraphicFramePr>
        <p:xfrm>
          <a:off x="1366438" y="1200450"/>
          <a:ext cx="3000000" cy="3000000"/>
        </p:xfrm>
        <a:graphic>
          <a:graphicData uri="http://schemas.openxmlformats.org/drawingml/2006/table">
            <a:tbl>
              <a:tblPr>
                <a:noFill/>
                <a:tableStyleId>{0496D05A-1EB1-45B1-8CDD-7A9E0CA6C81D}</a:tableStyleId>
              </a:tblPr>
              <a:tblGrid>
                <a:gridCol w="3201275"/>
                <a:gridCol w="3201275"/>
                <a:gridCol w="3201275"/>
              </a:tblGrid>
              <a:tr h="471325">
                <a:tc>
                  <a:txBody>
                    <a:bodyPr/>
                    <a:lstStyle/>
                    <a:p>
                      <a:pPr indent="0" lvl="0" marL="0" rtl="0" algn="ctr">
                        <a:lnSpc>
                          <a:spcPct val="115000"/>
                        </a:lnSpc>
                        <a:spcBef>
                          <a:spcPts val="1200"/>
                        </a:spcBef>
                        <a:spcAft>
                          <a:spcPts val="1200"/>
                        </a:spcAft>
                        <a:buNone/>
                      </a:pPr>
                      <a:r>
                        <a:rPr b="1" lang="en-US" sz="2200"/>
                        <a:t>User Type</a:t>
                      </a:r>
                      <a:endParaRPr b="1"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US" sz="2200"/>
                        <a:t>Goal</a:t>
                      </a:r>
                      <a:endParaRPr b="1"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US" sz="2200"/>
                        <a:t>Benefit</a:t>
                      </a:r>
                      <a:endParaRPr b="1"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71325">
                <a:tc>
                  <a:txBody>
                    <a:bodyPr/>
                    <a:lstStyle/>
                    <a:p>
                      <a:pPr indent="0" lvl="0" marL="0" rtl="0" algn="l">
                        <a:lnSpc>
                          <a:spcPct val="115000"/>
                        </a:lnSpc>
                        <a:spcBef>
                          <a:spcPts val="1200"/>
                        </a:spcBef>
                        <a:spcAft>
                          <a:spcPts val="1200"/>
                        </a:spcAft>
                        <a:buNone/>
                      </a:pPr>
                      <a:r>
                        <a:rPr lang="en-US" sz="2200"/>
                        <a:t>Privacy-conscious user</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See which apps are sending data</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Identify and block invasive apps</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71325">
                <a:tc>
                  <a:txBody>
                    <a:bodyPr/>
                    <a:lstStyle/>
                    <a:p>
                      <a:pPr indent="0" lvl="0" marL="0" rtl="0" algn="l">
                        <a:lnSpc>
                          <a:spcPct val="115000"/>
                        </a:lnSpc>
                        <a:spcBef>
                          <a:spcPts val="1200"/>
                        </a:spcBef>
                        <a:spcAft>
                          <a:spcPts val="1200"/>
                        </a:spcAft>
                        <a:buNone/>
                      </a:pPr>
                      <a:r>
                        <a:rPr lang="en-US" sz="2200"/>
                        <a:t>Security researcher</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Export logs for analysis</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Detect privacy violations at scale</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71325">
                <a:tc>
                  <a:txBody>
                    <a:bodyPr/>
                    <a:lstStyle/>
                    <a:p>
                      <a:pPr indent="0" lvl="0" marL="0" rtl="0" algn="l">
                        <a:lnSpc>
                          <a:spcPct val="115000"/>
                        </a:lnSpc>
                        <a:spcBef>
                          <a:spcPts val="1200"/>
                        </a:spcBef>
                        <a:spcAft>
                          <a:spcPts val="1200"/>
                        </a:spcAft>
                        <a:buNone/>
                      </a:pPr>
                      <a:r>
                        <a:rPr lang="en-US" sz="2200"/>
                        <a:t>Network enthusiast</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Inspect detailed packet info</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Understand how apps communicate</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71325">
                <a:tc>
                  <a:txBody>
                    <a:bodyPr/>
                    <a:lstStyle/>
                    <a:p>
                      <a:pPr indent="0" lvl="0" marL="0" rtl="0" algn="l">
                        <a:lnSpc>
                          <a:spcPct val="115000"/>
                        </a:lnSpc>
                        <a:spcBef>
                          <a:spcPts val="1200"/>
                        </a:spcBef>
                        <a:spcAft>
                          <a:spcPts val="1200"/>
                        </a:spcAft>
                        <a:buNone/>
                      </a:pPr>
                      <a:r>
                        <a:rPr lang="en-US" sz="2200"/>
                        <a:t>IT professional</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Get alerts for suspicious domains</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Protect networks from data leaks</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71325">
                <a:tc>
                  <a:txBody>
                    <a:bodyPr/>
                    <a:lstStyle/>
                    <a:p>
                      <a:pPr indent="0" lvl="0" marL="0" rtl="0" algn="l">
                        <a:lnSpc>
                          <a:spcPct val="115000"/>
                        </a:lnSpc>
                        <a:spcBef>
                          <a:spcPts val="1200"/>
                        </a:spcBef>
                        <a:spcAft>
                          <a:spcPts val="1200"/>
                        </a:spcAft>
                        <a:buNone/>
                      </a:pPr>
                      <a:r>
                        <a:rPr lang="en-US" sz="2200"/>
                        <a:t>Casual user</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Ask “Which app used my camera?”</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Get easy, AI-generated explanations</a:t>
                      </a:r>
                      <a:endParaRPr sz="2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g368b8c664e8_0_86"/>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1" name="Google Shape;141;g368b8c664e8_0_86"/>
          <p:cNvSpPr txBox="1"/>
          <p:nvPr>
            <p:ph type="ctrTitle"/>
          </p:nvPr>
        </p:nvSpPr>
        <p:spPr>
          <a:xfrm>
            <a:off x="1080300" y="1358025"/>
            <a:ext cx="10031400" cy="51075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Font typeface="Times New Roman"/>
              <a:buChar char="●"/>
            </a:pPr>
            <a:r>
              <a:rPr b="1" lang="en-US" sz="2400">
                <a:latin typeface="Times New Roman"/>
                <a:ea typeface="Times New Roman"/>
                <a:cs typeface="Times New Roman"/>
                <a:sym typeface="Times New Roman"/>
              </a:rPr>
              <a:t>What is needed to link applications with their network traffic?</a:t>
            </a:r>
            <a:endParaRPr b="1"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Running processes will have a PID (most of the time)</a:t>
            </a:r>
            <a:endParaRPr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If a process is actively using the network, it will have port(s) allocated</a:t>
            </a:r>
            <a:endParaRPr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Associating a PID with an application name</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b="1" lang="en-US" sz="2400">
                <a:latin typeface="Times New Roman"/>
                <a:ea typeface="Times New Roman"/>
                <a:cs typeface="Times New Roman"/>
                <a:sym typeface="Times New Roman"/>
              </a:rPr>
              <a:t>NodeJS cross-platform library research:</a:t>
            </a:r>
            <a:endParaRPr b="1"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i="1" lang="en-US" sz="2400">
                <a:latin typeface="Times New Roman"/>
                <a:ea typeface="Times New Roman"/>
                <a:cs typeface="Times New Roman"/>
                <a:sym typeface="Times New Roman"/>
              </a:rPr>
              <a:t>ps-list</a:t>
            </a:r>
            <a:r>
              <a:rPr lang="en-US" sz="2400">
                <a:latin typeface="Times New Roman"/>
                <a:ea typeface="Times New Roman"/>
                <a:cs typeface="Times New Roman"/>
                <a:sym typeface="Times New Roman"/>
              </a:rPr>
              <a:t> (returns all active PIDs and names)</a:t>
            </a:r>
            <a:endParaRPr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i="1" lang="en-US" sz="2400">
                <a:latin typeface="Times New Roman"/>
                <a:ea typeface="Times New Roman"/>
                <a:cs typeface="Times New Roman"/>
                <a:sym typeface="Times New Roman"/>
              </a:rPr>
              <a:t>netstat</a:t>
            </a:r>
            <a:r>
              <a:rPr lang="en-US" sz="2400">
                <a:latin typeface="Times New Roman"/>
                <a:ea typeface="Times New Roman"/>
                <a:cs typeface="Times New Roman"/>
                <a:sym typeface="Times New Roman"/>
              </a:rPr>
              <a:t> (returns info for all PIDs for processes with active network connections)</a:t>
            </a:r>
            <a:endParaRPr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i="1" lang="en-US" sz="2400">
                <a:latin typeface="Times New Roman"/>
                <a:ea typeface="Times New Roman"/>
                <a:cs typeface="Times New Roman"/>
                <a:sym typeface="Times New Roman"/>
              </a:rPr>
              <a:t>cap</a:t>
            </a:r>
            <a:r>
              <a:rPr lang="en-US" sz="2400">
                <a:latin typeface="Times New Roman"/>
                <a:ea typeface="Times New Roman"/>
                <a:cs typeface="Times New Roman"/>
                <a:sym typeface="Times New Roman"/>
              </a:rPr>
              <a:t> (packet sniffer + returns network interface info)</a:t>
            </a:r>
            <a:endParaRPr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i="1" lang="en-US" sz="2400">
                <a:latin typeface="Times New Roman"/>
                <a:ea typeface="Times New Roman"/>
                <a:cs typeface="Times New Roman"/>
                <a:sym typeface="Times New Roman"/>
              </a:rPr>
              <a:t>os</a:t>
            </a:r>
            <a:r>
              <a:rPr lang="en-US" sz="2400">
                <a:latin typeface="Times New Roman"/>
                <a:ea typeface="Times New Roman"/>
                <a:cs typeface="Times New Roman"/>
                <a:sym typeface="Times New Roman"/>
              </a:rPr>
              <a:t> (returns Windows, Linux, MacOS)</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b="1" lang="en-US" sz="2400">
                <a:latin typeface="Times New Roman"/>
                <a:ea typeface="Times New Roman"/>
                <a:cs typeface="Times New Roman"/>
                <a:sym typeface="Times New Roman"/>
              </a:rPr>
              <a:t>Testing:</a:t>
            </a:r>
            <a:endParaRPr b="1"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Read through library manuals and ran basic scripts to print output</a:t>
            </a:r>
            <a:endParaRPr sz="2400">
              <a:latin typeface="Times New Roman"/>
              <a:ea typeface="Times New Roman"/>
              <a:cs typeface="Times New Roman"/>
              <a:sym typeface="Times New Roman"/>
            </a:endParaRPr>
          </a:p>
          <a:p>
            <a:pPr indent="-381000" lvl="1" marL="9144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Basic filtering of unwanted loopback traffic</a:t>
            </a:r>
            <a:endParaRPr sz="2400">
              <a:latin typeface="Times New Roman"/>
              <a:ea typeface="Times New Roman"/>
              <a:cs typeface="Times New Roman"/>
              <a:sym typeface="Times New Roman"/>
            </a:endParaRPr>
          </a:p>
        </p:txBody>
      </p:sp>
      <p:sp>
        <p:nvSpPr>
          <p:cNvPr id="142" name="Google Shape;142;g368b8c664e8_0_86"/>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43" name="Google Shape;143;g368b8c664e8_0_86"/>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Project Setup &amp; Core R&amp;D</a:t>
            </a:r>
            <a:endParaRPr sz="3600">
              <a:latin typeface="Times New Roman"/>
              <a:ea typeface="Times New Roman"/>
              <a:cs typeface="Times New Roman"/>
              <a:sym typeface="Times New Roman"/>
            </a:endParaRPr>
          </a:p>
        </p:txBody>
      </p:sp>
      <p:pic>
        <p:nvPicPr>
          <p:cNvPr descr="A logo of a shield with a lock&#10;&#10;AI-generated content may be incorrect." id="144" name="Google Shape;144;g368b8c664e8_0_86"/>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g368b8c664e8_0_61"/>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0" name="Google Shape;150;g368b8c664e8_0_61"/>
          <p:cNvSpPr txBox="1"/>
          <p:nvPr>
            <p:ph type="ctrTitle"/>
          </p:nvPr>
        </p:nvSpPr>
        <p:spPr>
          <a:xfrm>
            <a:off x="950025" y="1411850"/>
            <a:ext cx="10160100" cy="4935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Netstat works great with TCP because it is connection oriented</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UDP is not, so the full netstat information is often not there</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Some system traffic may have a PID, usually it does not</a:t>
            </a:r>
            <a:endParaRPr sz="2400">
              <a:latin typeface="Times New Roman"/>
              <a:ea typeface="Times New Roman"/>
              <a:cs typeface="Times New Roman"/>
              <a:sym typeface="Times New Roman"/>
            </a:endParaRPr>
          </a:p>
        </p:txBody>
      </p:sp>
      <p:sp>
        <p:nvSpPr>
          <p:cNvPr id="151" name="Google Shape;151;g368b8c664e8_0_61"/>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Back-End Development</a:t>
            </a:r>
            <a:endParaRPr sz="3600">
              <a:latin typeface="Times New Roman"/>
              <a:ea typeface="Times New Roman"/>
              <a:cs typeface="Times New Roman"/>
              <a:sym typeface="Times New Roman"/>
            </a:endParaRPr>
          </a:p>
        </p:txBody>
      </p:sp>
      <p:pic>
        <p:nvPicPr>
          <p:cNvPr id="152" name="Google Shape;152;g368b8c664e8_0_61" title="layout.png"/>
          <p:cNvPicPr preferRelativeResize="0"/>
          <p:nvPr/>
        </p:nvPicPr>
        <p:blipFill>
          <a:blip r:embed="rId3">
            <a:alphaModFix/>
          </a:blip>
          <a:stretch>
            <a:fillRect/>
          </a:stretch>
        </p:blipFill>
        <p:spPr>
          <a:xfrm>
            <a:off x="4332475" y="1491075"/>
            <a:ext cx="7608876" cy="2995150"/>
          </a:xfrm>
          <a:prstGeom prst="rect">
            <a:avLst/>
          </a:prstGeom>
          <a:noFill/>
          <a:ln>
            <a:noFill/>
          </a:ln>
        </p:spPr>
      </p:pic>
      <p:pic>
        <p:nvPicPr>
          <p:cNvPr descr="A logo of a shield with a lock&#10;&#10;AI-generated content may be incorrect." id="153" name="Google Shape;153;g368b8c664e8_0_61"/>
          <p:cNvPicPr preferRelativeResize="0"/>
          <p:nvPr/>
        </p:nvPicPr>
        <p:blipFill rotWithShape="1">
          <a:blip r:embed="rId4">
            <a:alphaModFix/>
          </a:blip>
          <a:srcRect b="0" l="0" r="0" t="0"/>
          <a:stretch/>
        </p:blipFill>
        <p:spPr>
          <a:xfrm>
            <a:off x="10701325" y="5370275"/>
            <a:ext cx="1361850" cy="1361850"/>
          </a:xfrm>
          <a:prstGeom prst="rect">
            <a:avLst/>
          </a:prstGeom>
          <a:noFill/>
          <a:ln>
            <a:noFill/>
          </a:ln>
        </p:spPr>
      </p:pic>
      <p:sp>
        <p:nvSpPr>
          <p:cNvPr id="154" name="Google Shape;154;g368b8c664e8_0_61"/>
          <p:cNvSpPr txBox="1"/>
          <p:nvPr/>
        </p:nvSpPr>
        <p:spPr>
          <a:xfrm>
            <a:off x="475025" y="1609800"/>
            <a:ext cx="4235700" cy="318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chemeClr val="dk1"/>
                </a:solidFill>
                <a:latin typeface="Times New Roman"/>
                <a:ea typeface="Times New Roman"/>
                <a:cs typeface="Times New Roman"/>
                <a:sym typeface="Times New Roman"/>
              </a:rPr>
              <a:t>Pull Device/NIC info using cap</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name: “{1CD02900-6466-....}”</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description: “WAN Miniport (IP)”</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addresses: [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name “{06BE6C04-5DCD-...}</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description: “Realtek PCIe GbE Controller”</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addresses: [10.0.0.38, fe80::4d0a:901:...]</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 “best” interface typically has the </a:t>
            </a:r>
            <a:endParaRPr sz="16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US" sz="1600">
                <a:solidFill>
                  <a:schemeClr val="dk1"/>
                </a:solidFill>
                <a:latin typeface="Times New Roman"/>
                <a:ea typeface="Times New Roman"/>
                <a:cs typeface="Times New Roman"/>
                <a:sym typeface="Times New Roman"/>
              </a:rPr>
              <a:t>most IP addresses (IPv4, v6, temp v6, link local, etc)</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68bf852de8_4_12"/>
          <p:cNvSpPr txBox="1"/>
          <p:nvPr>
            <p:ph type="ctrTitle"/>
          </p:nvPr>
        </p:nvSpPr>
        <p:spPr>
          <a:xfrm>
            <a:off x="1029200" y="448625"/>
            <a:ext cx="9764100" cy="659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sz="3600">
                <a:latin typeface="Times New Roman"/>
                <a:ea typeface="Times New Roman"/>
                <a:cs typeface="Times New Roman"/>
                <a:sym typeface="Times New Roman"/>
              </a:rPr>
              <a:t>Back-End Data Processing</a:t>
            </a:r>
            <a:endParaRPr sz="3600">
              <a:latin typeface="Times New Roman"/>
              <a:ea typeface="Times New Roman"/>
              <a:cs typeface="Times New Roman"/>
              <a:sym typeface="Times New Roman"/>
            </a:endParaRPr>
          </a:p>
        </p:txBody>
      </p:sp>
      <p:pic>
        <p:nvPicPr>
          <p:cNvPr id="160" name="Google Shape;160;g368bf852de8_4_12" title="layout2.png"/>
          <p:cNvPicPr preferRelativeResize="0"/>
          <p:nvPr/>
        </p:nvPicPr>
        <p:blipFill>
          <a:blip r:embed="rId3">
            <a:alphaModFix/>
          </a:blip>
          <a:stretch>
            <a:fillRect/>
          </a:stretch>
        </p:blipFill>
        <p:spPr>
          <a:xfrm>
            <a:off x="3556650" y="1326725"/>
            <a:ext cx="8140723" cy="5246951"/>
          </a:xfrm>
          <a:prstGeom prst="rect">
            <a:avLst/>
          </a:prstGeom>
          <a:noFill/>
          <a:ln>
            <a:noFill/>
          </a:ln>
        </p:spPr>
      </p:pic>
      <p:sp>
        <p:nvSpPr>
          <p:cNvPr id="161" name="Google Shape;161;g368bf852de8_4_12"/>
          <p:cNvSpPr txBox="1"/>
          <p:nvPr/>
        </p:nvSpPr>
        <p:spPr>
          <a:xfrm>
            <a:off x="488200" y="1398650"/>
            <a:ext cx="3707700" cy="52470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Char char="●"/>
            </a:pPr>
            <a:r>
              <a:rPr lang="en-US" sz="2300">
                <a:solidFill>
                  <a:schemeClr val="dk1"/>
                </a:solidFill>
              </a:rPr>
              <a:t>Ps-list and netstat are polled </a:t>
            </a:r>
            <a:r>
              <a:rPr lang="en-US" sz="2300">
                <a:solidFill>
                  <a:schemeClr val="dk1"/>
                </a:solidFill>
              </a:rPr>
              <a:t>asynchronously</a:t>
            </a:r>
            <a:endParaRPr sz="2300">
              <a:solidFill>
                <a:schemeClr val="dk1"/>
              </a:solidFill>
            </a:endParaRPr>
          </a:p>
          <a:p>
            <a:pPr indent="-349250" lvl="1" marL="914400" rtl="0" algn="l">
              <a:spcBef>
                <a:spcPts val="0"/>
              </a:spcBef>
              <a:spcAft>
                <a:spcPts val="0"/>
              </a:spcAft>
              <a:buClr>
                <a:schemeClr val="dk1"/>
              </a:buClr>
              <a:buSzPts val="1900"/>
              <a:buChar char="○"/>
            </a:pPr>
            <a:r>
              <a:rPr lang="en-US" sz="1900">
                <a:solidFill>
                  <a:schemeClr val="dk1"/>
                </a:solidFill>
              </a:rPr>
              <a:t>stored in Maps</a:t>
            </a:r>
            <a:endParaRPr sz="1900">
              <a:solidFill>
                <a:schemeClr val="dk1"/>
              </a:solidFill>
            </a:endParaRPr>
          </a:p>
          <a:p>
            <a:pPr indent="-374650" lvl="0" marL="457200" rtl="0" algn="l">
              <a:spcBef>
                <a:spcPts val="0"/>
              </a:spcBef>
              <a:spcAft>
                <a:spcPts val="0"/>
              </a:spcAft>
              <a:buClr>
                <a:schemeClr val="dk1"/>
              </a:buClr>
              <a:buSzPts val="2300"/>
              <a:buChar char="●"/>
            </a:pPr>
            <a:r>
              <a:rPr lang="en-US" sz="2300">
                <a:solidFill>
                  <a:schemeClr val="dk1"/>
                </a:solidFill>
              </a:rPr>
              <a:t>Cap runs continuously</a:t>
            </a:r>
            <a:endParaRPr sz="2300">
              <a:solidFill>
                <a:schemeClr val="dk1"/>
              </a:solidFill>
            </a:endParaRPr>
          </a:p>
          <a:p>
            <a:pPr indent="-374650" lvl="0" marL="457200" rtl="0" algn="l">
              <a:spcBef>
                <a:spcPts val="0"/>
              </a:spcBef>
              <a:spcAft>
                <a:spcPts val="0"/>
              </a:spcAft>
              <a:buClr>
                <a:schemeClr val="dk1"/>
              </a:buClr>
              <a:buSzPts val="2300"/>
              <a:buChar char="●"/>
            </a:pPr>
            <a:r>
              <a:rPr lang="en-US" sz="2300">
                <a:solidFill>
                  <a:schemeClr val="dk1"/>
                </a:solidFill>
              </a:rPr>
              <a:t>Bidirectional key value pairs (5-tuple, PID + name) are stored in a separate Map</a:t>
            </a:r>
            <a:endParaRPr sz="2300">
              <a:solidFill>
                <a:schemeClr val="dk1"/>
              </a:solidFill>
            </a:endParaRPr>
          </a:p>
          <a:p>
            <a:pPr indent="-349250" lvl="1" marL="914400" rtl="0" algn="l">
              <a:spcBef>
                <a:spcPts val="0"/>
              </a:spcBef>
              <a:spcAft>
                <a:spcPts val="0"/>
              </a:spcAft>
              <a:buClr>
                <a:schemeClr val="dk1"/>
              </a:buClr>
              <a:buSzPts val="1900"/>
              <a:buChar char="○"/>
            </a:pPr>
            <a:r>
              <a:rPr lang="en-US" sz="1900">
                <a:solidFill>
                  <a:schemeClr val="dk1"/>
                </a:solidFill>
              </a:rPr>
              <a:t>Separate cached Maps for UDP and TCP</a:t>
            </a:r>
            <a:endParaRPr sz="1900">
              <a:solidFill>
                <a:schemeClr val="dk1"/>
              </a:solidFill>
            </a:endParaRPr>
          </a:p>
          <a:p>
            <a:pPr indent="-374650" lvl="0" marL="457200" rtl="0" algn="l">
              <a:spcBef>
                <a:spcPts val="0"/>
              </a:spcBef>
              <a:spcAft>
                <a:spcPts val="0"/>
              </a:spcAft>
              <a:buClr>
                <a:schemeClr val="dk1"/>
              </a:buClr>
              <a:buSzPts val="2300"/>
              <a:buChar char="●"/>
            </a:pPr>
            <a:r>
              <a:rPr lang="en-US" sz="2300">
                <a:solidFill>
                  <a:schemeClr val="dk1"/>
                </a:solidFill>
              </a:rPr>
              <a:t>Decoded traffic uses 5-tuple key to hash in and receive PID + name</a:t>
            </a:r>
            <a:endParaRPr sz="2300">
              <a:solidFill>
                <a:schemeClr val="dk1"/>
              </a:solidFill>
            </a:endParaRPr>
          </a:p>
          <a:p>
            <a:pPr indent="-349250" lvl="1" marL="914400" rtl="0" algn="l">
              <a:spcBef>
                <a:spcPts val="0"/>
              </a:spcBef>
              <a:spcAft>
                <a:spcPts val="0"/>
              </a:spcAft>
              <a:buClr>
                <a:schemeClr val="dk1"/>
              </a:buClr>
              <a:buSzPts val="1900"/>
              <a:buChar char="○"/>
            </a:pPr>
            <a:r>
              <a:rPr lang="en-US" sz="1900">
                <a:solidFill>
                  <a:schemeClr val="dk1"/>
                </a:solidFill>
              </a:rPr>
              <a:t>Write to DB</a:t>
            </a:r>
            <a:endParaRPr sz="19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g368b8c664e8_0_53"/>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7" name="Google Shape;167;g368b8c664e8_0_53"/>
          <p:cNvSpPr txBox="1"/>
          <p:nvPr>
            <p:ph type="ctrTitle"/>
          </p:nvPr>
        </p:nvSpPr>
        <p:spPr>
          <a:xfrm>
            <a:off x="1130975" y="1360450"/>
            <a:ext cx="6622500" cy="42393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Font typeface="Teko"/>
              <a:buChar char="●"/>
            </a:pPr>
            <a:r>
              <a:rPr b="1" lang="en-US" sz="2400">
                <a:latin typeface="Times New Roman"/>
                <a:ea typeface="Times New Roman"/>
                <a:cs typeface="Times New Roman"/>
                <a:sym typeface="Times New Roman"/>
              </a:rPr>
              <a:t>Basic Mode</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S</a:t>
            </a:r>
            <a:r>
              <a:rPr lang="en-US" sz="2400">
                <a:latin typeface="Times New Roman"/>
                <a:ea typeface="Times New Roman"/>
                <a:cs typeface="Times New Roman"/>
                <a:sym typeface="Times New Roman"/>
              </a:rPr>
              <a:t>ummarizes overall traffic and highlights top applications by usage, privacy scores, and recent hardware access events. Includes geographic maps showing global traffic destinations. </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eko"/>
              <a:buChar char="●"/>
            </a:pPr>
            <a:r>
              <a:rPr b="1" lang="en-US" sz="2400">
                <a:latin typeface="Times New Roman"/>
                <a:ea typeface="Times New Roman"/>
                <a:cs typeface="Times New Roman"/>
                <a:sym typeface="Times New Roman"/>
              </a:rPr>
              <a:t>Advanced Mode: </a:t>
            </a:r>
            <a:r>
              <a:rPr lang="en-US" sz="2400">
                <a:latin typeface="Times New Roman"/>
                <a:ea typeface="Times New Roman"/>
                <a:cs typeface="Times New Roman"/>
                <a:sym typeface="Times New Roman"/>
              </a:rPr>
              <a:t>Provides detailed packet breakdown with header information for Ethernet, IP, and Transport layers. Includes well-known port identification, real-time traffic viewer, custom filtering, interactive timelines, and raw packet inspection. </a:t>
            </a:r>
            <a:endParaRPr sz="2400">
              <a:latin typeface="Times New Roman"/>
              <a:ea typeface="Times New Roman"/>
              <a:cs typeface="Times New Roman"/>
              <a:sym typeface="Times New Roman"/>
            </a:endParaRPr>
          </a:p>
        </p:txBody>
      </p:sp>
      <p:sp>
        <p:nvSpPr>
          <p:cNvPr id="168" name="Google Shape;168;g368b8c664e8_0_53"/>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69" name="Google Shape;169;g368b8c664e8_0_53"/>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UI/UX Design</a:t>
            </a:r>
            <a:endParaRPr sz="3600">
              <a:latin typeface="Times New Roman"/>
              <a:ea typeface="Times New Roman"/>
              <a:cs typeface="Times New Roman"/>
              <a:sym typeface="Times New Roman"/>
            </a:endParaRPr>
          </a:p>
        </p:txBody>
      </p:sp>
      <p:pic>
        <p:nvPicPr>
          <p:cNvPr id="170" name="Google Shape;170;g368b8c664e8_0_53"/>
          <p:cNvPicPr preferRelativeResize="0"/>
          <p:nvPr/>
        </p:nvPicPr>
        <p:blipFill>
          <a:blip r:embed="rId3">
            <a:alphaModFix/>
          </a:blip>
          <a:stretch>
            <a:fillRect/>
          </a:stretch>
        </p:blipFill>
        <p:spPr>
          <a:xfrm>
            <a:off x="8015300" y="1255750"/>
            <a:ext cx="3875651" cy="2519301"/>
          </a:xfrm>
          <a:prstGeom prst="rect">
            <a:avLst/>
          </a:prstGeom>
          <a:solidFill>
            <a:schemeClr val="lt1"/>
          </a:solidFill>
          <a:ln>
            <a:noFill/>
          </a:ln>
        </p:spPr>
      </p:pic>
      <p:pic>
        <p:nvPicPr>
          <p:cNvPr id="171" name="Google Shape;171;g368b8c664e8_0_53"/>
          <p:cNvPicPr preferRelativeResize="0"/>
          <p:nvPr/>
        </p:nvPicPr>
        <p:blipFill>
          <a:blip r:embed="rId4">
            <a:alphaModFix/>
          </a:blip>
          <a:stretch>
            <a:fillRect/>
          </a:stretch>
        </p:blipFill>
        <p:spPr>
          <a:xfrm>
            <a:off x="8015300" y="3993887"/>
            <a:ext cx="3875650" cy="2525612"/>
          </a:xfrm>
          <a:prstGeom prst="rect">
            <a:avLst/>
          </a:prstGeom>
          <a:solidFill>
            <a:schemeClr val="lt1"/>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g368b8c664e8_0_102"/>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7" name="Google Shape;177;g368b8c664e8_0_102"/>
          <p:cNvSpPr txBox="1"/>
          <p:nvPr>
            <p:ph type="ctrTitle"/>
          </p:nvPr>
        </p:nvSpPr>
        <p:spPr>
          <a:xfrm>
            <a:off x="1130981" y="2205317"/>
            <a:ext cx="10031400" cy="28260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Font typeface="Teko"/>
              <a:buChar char="●"/>
            </a:pPr>
            <a:r>
              <a:t/>
            </a:r>
            <a:endParaRPr sz="2400">
              <a:latin typeface="Teko"/>
              <a:ea typeface="Teko"/>
              <a:cs typeface="Teko"/>
              <a:sym typeface="Teko"/>
            </a:endParaRPr>
          </a:p>
        </p:txBody>
      </p:sp>
      <p:sp>
        <p:nvSpPr>
          <p:cNvPr id="178" name="Google Shape;178;g368b8c664e8_0_102"/>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79" name="Google Shape;179;g368b8c664e8_0_102"/>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AI-Powered Analysis</a:t>
            </a:r>
            <a:endParaRPr sz="3600">
              <a:latin typeface="Times New Roman"/>
              <a:ea typeface="Times New Roman"/>
              <a:cs typeface="Times New Roman"/>
              <a:sym typeface="Times New Roman"/>
            </a:endParaRPr>
          </a:p>
        </p:txBody>
      </p:sp>
      <p:pic>
        <p:nvPicPr>
          <p:cNvPr descr="A logo of a shield with a lock&#10;&#10;AI-generated content may be incorrect." id="180" name="Google Shape;180;g368b8c664e8_0_102"/>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g368b8c664e8_0_77"/>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6" name="Google Shape;186;g368b8c664e8_0_77"/>
          <p:cNvSpPr txBox="1"/>
          <p:nvPr>
            <p:ph type="ctrTitle"/>
          </p:nvPr>
        </p:nvSpPr>
        <p:spPr>
          <a:xfrm>
            <a:off x="1130981" y="2205317"/>
            <a:ext cx="10031400" cy="28260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Font typeface="Teko"/>
              <a:buChar char="●"/>
            </a:pPr>
            <a:r>
              <a:t/>
            </a:r>
            <a:endParaRPr sz="2400">
              <a:latin typeface="Teko"/>
              <a:ea typeface="Teko"/>
              <a:cs typeface="Teko"/>
              <a:sym typeface="Teko"/>
            </a:endParaRPr>
          </a:p>
        </p:txBody>
      </p:sp>
      <p:sp>
        <p:nvSpPr>
          <p:cNvPr id="187" name="Google Shape;187;g368b8c664e8_0_77"/>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88" name="Google Shape;188;g368b8c664e8_0_77"/>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Demo</a:t>
            </a:r>
            <a:endParaRPr sz="3600">
              <a:latin typeface="Times New Roman"/>
              <a:ea typeface="Times New Roman"/>
              <a:cs typeface="Times New Roman"/>
              <a:sym typeface="Times New Roman"/>
            </a:endParaRPr>
          </a:p>
        </p:txBody>
      </p:sp>
      <p:pic>
        <p:nvPicPr>
          <p:cNvPr descr="A logo of a shield with a lock&#10;&#10;AI-generated content may be incorrect." id="189" name="Google Shape;189;g368b8c664e8_0_77"/>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g368ca00a97b_0_0"/>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5" name="Google Shape;195;g368ca00a97b_0_0"/>
          <p:cNvSpPr txBox="1"/>
          <p:nvPr>
            <p:ph type="ctrTitle"/>
          </p:nvPr>
        </p:nvSpPr>
        <p:spPr>
          <a:xfrm>
            <a:off x="1130975" y="1721325"/>
            <a:ext cx="10031400" cy="43785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SzPts val="2000"/>
              <a:buFont typeface="Arial"/>
              <a:buChar char="●"/>
            </a:pPr>
            <a:r>
              <a:rPr lang="en-US" sz="2000">
                <a:latin typeface="Arial"/>
                <a:ea typeface="Arial"/>
                <a:cs typeface="Arial"/>
                <a:sym typeface="Arial"/>
              </a:rPr>
              <a:t>Setting up our Git repo early gave us real experience with </a:t>
            </a:r>
            <a:r>
              <a:rPr b="1" lang="en-US" sz="2000">
                <a:latin typeface="Arial"/>
                <a:ea typeface="Arial"/>
                <a:cs typeface="Arial"/>
                <a:sym typeface="Arial"/>
              </a:rPr>
              <a:t>branching, merging, and resolving conflicts</a:t>
            </a:r>
            <a:r>
              <a:rPr lang="en-US" sz="2000">
                <a:latin typeface="Arial"/>
                <a:ea typeface="Arial"/>
                <a:cs typeface="Arial"/>
                <a:sym typeface="Arial"/>
              </a:rPr>
              <a:t> as a team.</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Configuring </a:t>
            </a:r>
            <a:r>
              <a:rPr b="1" lang="en-US" sz="2000">
                <a:latin typeface="Arial"/>
                <a:ea typeface="Arial"/>
                <a:cs typeface="Arial"/>
                <a:sym typeface="Arial"/>
              </a:rPr>
              <a:t>GPG keys</a:t>
            </a:r>
            <a:r>
              <a:rPr lang="en-US" sz="2000">
                <a:latin typeface="Arial"/>
                <a:ea typeface="Arial"/>
                <a:cs typeface="Arial"/>
                <a:sym typeface="Arial"/>
              </a:rPr>
              <a:t> and handling </a:t>
            </a:r>
            <a:r>
              <a:rPr b="1" lang="en-US" sz="2000">
                <a:latin typeface="Arial"/>
                <a:ea typeface="Arial"/>
                <a:cs typeface="Arial"/>
                <a:sym typeface="Arial"/>
              </a:rPr>
              <a:t>pull requests</a:t>
            </a:r>
            <a:r>
              <a:rPr lang="en-US" sz="2000">
                <a:latin typeface="Arial"/>
                <a:ea typeface="Arial"/>
                <a:cs typeface="Arial"/>
                <a:sym typeface="Arial"/>
              </a:rPr>
              <a:t> taught us how to collaborate securely and keep changes traceable.</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Writing the </a:t>
            </a:r>
            <a:r>
              <a:rPr b="1" lang="en-US" sz="2000">
                <a:latin typeface="Arial"/>
                <a:ea typeface="Arial"/>
                <a:cs typeface="Arial"/>
                <a:sym typeface="Arial"/>
              </a:rPr>
              <a:t>SPMP and SCMP</a:t>
            </a:r>
            <a:r>
              <a:rPr lang="en-US" sz="2000">
                <a:latin typeface="Arial"/>
                <a:ea typeface="Arial"/>
                <a:cs typeface="Arial"/>
                <a:sym typeface="Arial"/>
              </a:rPr>
              <a:t> showed how planning, roles, and schedules help keep the project on track.</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Font typeface="Arial"/>
              <a:buChar char="●"/>
            </a:pPr>
            <a:r>
              <a:rPr lang="en-US" sz="2000">
                <a:latin typeface="Arial"/>
                <a:ea typeface="Arial"/>
                <a:cs typeface="Arial"/>
                <a:sym typeface="Arial"/>
              </a:rPr>
              <a:t>Communicating through </a:t>
            </a:r>
            <a:r>
              <a:rPr b="1" lang="en-US" sz="2000">
                <a:latin typeface="Arial"/>
                <a:ea typeface="Arial"/>
                <a:cs typeface="Arial"/>
                <a:sym typeface="Arial"/>
              </a:rPr>
              <a:t>GitHub comments and check-ins</a:t>
            </a:r>
            <a:r>
              <a:rPr lang="en-US" sz="2000">
                <a:latin typeface="Arial"/>
                <a:ea typeface="Arial"/>
                <a:cs typeface="Arial"/>
                <a:sym typeface="Arial"/>
              </a:rPr>
              <a:t> kept everyone aligned even when tasks overlapped.</a:t>
            </a:r>
            <a:endParaRPr sz="2000">
              <a:latin typeface="Arial"/>
              <a:ea typeface="Arial"/>
              <a:cs typeface="Arial"/>
              <a:sym typeface="Arial"/>
            </a:endParaRPr>
          </a:p>
          <a:p>
            <a:pPr indent="0" lvl="0" marL="457200" rtl="0" algn="l">
              <a:lnSpc>
                <a:spcPct val="115000"/>
              </a:lnSpc>
              <a:spcBef>
                <a:spcPts val="1200"/>
              </a:spcBef>
              <a:spcAft>
                <a:spcPts val="1200"/>
              </a:spcAft>
              <a:buNone/>
            </a:pPr>
            <a:r>
              <a:t/>
            </a:r>
            <a:endParaRPr b="1" sz="2000">
              <a:latin typeface="Arial"/>
              <a:ea typeface="Arial"/>
              <a:cs typeface="Arial"/>
              <a:sym typeface="Arial"/>
            </a:endParaRPr>
          </a:p>
        </p:txBody>
      </p:sp>
      <p:sp>
        <p:nvSpPr>
          <p:cNvPr id="196" name="Google Shape;196;g368ca00a97b_0_0"/>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197" name="Google Shape;197;g368ca00a97b_0_0"/>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Lessons Learned</a:t>
            </a:r>
            <a:endParaRPr sz="3600">
              <a:latin typeface="Times New Roman"/>
              <a:ea typeface="Times New Roman"/>
              <a:cs typeface="Times New Roman"/>
              <a:sym typeface="Times New Roman"/>
            </a:endParaRPr>
          </a:p>
        </p:txBody>
      </p:sp>
      <p:pic>
        <p:nvPicPr>
          <p:cNvPr descr="A logo of a shield with a lock&#10;&#10;AI-generated content may be incorrect." id="198" name="Google Shape;198;g368ca00a97b_0_0"/>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g368b8c664e8_0_94"/>
          <p:cNvSpPr/>
          <p:nvPr/>
        </p:nvSpPr>
        <p:spPr>
          <a:xfrm>
            <a:off x="150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4" name="Google Shape;204;g368b8c664e8_0_94"/>
          <p:cNvSpPr txBox="1"/>
          <p:nvPr>
            <p:ph type="ctrTitle"/>
          </p:nvPr>
        </p:nvSpPr>
        <p:spPr>
          <a:xfrm>
            <a:off x="1130975" y="1472650"/>
            <a:ext cx="10031400" cy="43716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Back-End Development</a:t>
            </a:r>
            <a:endParaRPr sz="2400">
              <a:latin typeface="Times New Roman"/>
              <a:ea typeface="Times New Roman"/>
              <a:cs typeface="Times New Roman"/>
              <a:sym typeface="Times New Roman"/>
            </a:endParaRPr>
          </a:p>
          <a:p>
            <a:pPr indent="-349250" lvl="1" marL="914400" rtl="0" algn="l">
              <a:lnSpc>
                <a:spcPct val="10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Write linked packet / connection data to DB instead of JSON log files</a:t>
            </a:r>
            <a:endParaRPr sz="1900">
              <a:latin typeface="Times New Roman"/>
              <a:ea typeface="Times New Roman"/>
              <a:cs typeface="Times New Roman"/>
              <a:sym typeface="Times New Roman"/>
            </a:endParaRPr>
          </a:p>
          <a:p>
            <a:pPr indent="-349250" lvl="1" marL="914400" rtl="0" algn="l">
              <a:lnSpc>
                <a:spcPct val="10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Handle all system network traffic not linked to processes (ARP, ICMP, DNS, DHCP, etc) by assigning PID ‘-1’ to them</a:t>
            </a:r>
            <a:endParaRPr sz="1900">
              <a:latin typeface="Times New Roman"/>
              <a:ea typeface="Times New Roman"/>
              <a:cs typeface="Times New Roman"/>
              <a:sym typeface="Times New Roman"/>
            </a:endParaRPr>
          </a:p>
          <a:p>
            <a:pPr indent="-349250" lvl="1" marL="914400" rtl="0" algn="l">
              <a:lnSpc>
                <a:spcPct val="10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Reduce number of ‘UNKNOWN’ packets due to polling timing by implementing separate queue for unmatched packets</a:t>
            </a:r>
            <a:endParaRPr sz="1900">
              <a:latin typeface="Times New Roman"/>
              <a:ea typeface="Times New Roman"/>
              <a:cs typeface="Times New Roman"/>
              <a:sym typeface="Times New Roman"/>
            </a:endParaRPr>
          </a:p>
        </p:txBody>
      </p:sp>
      <p:sp>
        <p:nvSpPr>
          <p:cNvPr id="205" name="Google Shape;205;g368b8c664e8_0_94"/>
          <p:cNvSpPr txBox="1"/>
          <p:nvPr/>
        </p:nvSpPr>
        <p:spPr>
          <a:xfrm>
            <a:off x="-62325" y="6187425"/>
            <a:ext cx="4047600" cy="7755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Mid-Semester Project Presentation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800"/>
              <a:buFont typeface="Arial"/>
              <a:buNone/>
            </a:pPr>
            <a:r>
              <a:rPr b="1" i="0" lang="en-US" sz="1400" u="none" cap="none" strike="noStrike">
                <a:solidFill>
                  <a:schemeClr val="dk1"/>
                </a:solidFill>
                <a:latin typeface="Times New Roman"/>
                <a:ea typeface="Times New Roman"/>
                <a:cs typeface="Times New Roman"/>
                <a:sym typeface="Times New Roman"/>
              </a:rPr>
              <a:t>October 7, 2025</a:t>
            </a:r>
            <a:endParaRPr>
              <a:latin typeface="Times New Roman"/>
              <a:ea typeface="Times New Roman"/>
              <a:cs typeface="Times New Roman"/>
              <a:sym typeface="Times New Roman"/>
            </a:endParaRPr>
          </a:p>
        </p:txBody>
      </p:sp>
      <p:sp>
        <p:nvSpPr>
          <p:cNvPr id="206" name="Google Shape;206;g368b8c664e8_0_94"/>
          <p:cNvSpPr txBox="1"/>
          <p:nvPr/>
        </p:nvSpPr>
        <p:spPr>
          <a:xfrm>
            <a:off x="2062803" y="482020"/>
            <a:ext cx="80634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Times New Roman"/>
                <a:ea typeface="Times New Roman"/>
                <a:cs typeface="Times New Roman"/>
                <a:sym typeface="Times New Roman"/>
              </a:rPr>
              <a:t>Next Steps &amp; Milestones</a:t>
            </a:r>
            <a:endParaRPr sz="3600">
              <a:latin typeface="Times New Roman"/>
              <a:ea typeface="Times New Roman"/>
              <a:cs typeface="Times New Roman"/>
              <a:sym typeface="Times New Roman"/>
            </a:endParaRPr>
          </a:p>
        </p:txBody>
      </p:sp>
      <p:pic>
        <p:nvPicPr>
          <p:cNvPr descr="A logo of a shield with a lock&#10;&#10;AI-generated content may be incorrect." id="207" name="Google Shape;207;g368b8c664e8_0_94"/>
          <p:cNvPicPr preferRelativeResize="0"/>
          <p:nvPr/>
        </p:nvPicPr>
        <p:blipFill rotWithShape="1">
          <a:blip r:embed="rId3">
            <a:alphaModFix/>
          </a:blip>
          <a:srcRect b="0" l="0" r="0" t="0"/>
          <a:stretch/>
        </p:blipFill>
        <p:spPr>
          <a:xfrm>
            <a:off x="10701325" y="5370275"/>
            <a:ext cx="1361850" cy="1361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2025-01-20T10:56:22Z</dcterms:created>
  <dc:creator>Katie Carlisle</dc:creator>
</cp:coreProperties>
</file>